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2" r:id="rId9"/>
    <p:sldId id="266" r:id="rId10"/>
    <p:sldId id="267" r:id="rId11"/>
    <p:sldId id="263" r:id="rId12"/>
    <p:sldId id="268" r:id="rId13"/>
  </p:sldIdLst>
  <p:sldSz cx="12192000" cy="6858000"/>
  <p:notesSz cx="6858000" cy="12192000"/>
  <p:embeddedFontLst>
    <p:embeddedFont>
      <p:font typeface="Book Antiqua" panose="02040602050305030304" pitchFamily="18" charset="0"/>
      <p:regular r:id="rId15"/>
      <p:bold r:id="rId16"/>
      <p:italic r:id="rId17"/>
      <p:boldItalic r:id="rId18"/>
    </p:embeddedFon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Ink Free" panose="03080402000500000000" pitchFamily="66" charset="0"/>
      <p:regular r:id="rId23"/>
    </p:embeddedFont>
    <p:embeddedFont>
      <p:font typeface="Noto Sans Bold" panose="020B0604020202020204" charset="0"/>
      <p:regular r:id="rId24"/>
    </p:embeddedFont>
    <p:embeddedFont>
      <p:font typeface="Noto Sans Medium" panose="020B0604020202020204" charset="0"/>
      <p:regular r:id="rId25"/>
    </p:embeddedFont>
    <p:embeddedFont>
      <p:font typeface="Noto Serif Devanagari" panose="020B0604020202020204" charset="0"/>
      <p:regular r:id="rId26"/>
    </p:embeddedFont>
    <p:embeddedFont>
      <p:font typeface="Noto Serif Devanagari Black" panose="020B0604020202020204" charset="0"/>
      <p:regular r:id="rId27"/>
    </p:embeddedFont>
    <p:embeddedFont>
      <p:font typeface="Noto Serif Devanagari Bold" panose="020B0604020202020204" charset="0"/>
      <p:regular r:id="rId28"/>
    </p:embeddedFont>
    <p:embeddedFont>
      <p:font typeface="Noto Serif Devanagari ExtraBold" panose="020B0604020202020204" charset="0"/>
      <p:regular r:id="rId29"/>
    </p:embeddedFont>
    <p:embeddedFont>
      <p:font typeface="Noto Serif Devanagari SemiBold" panose="020B0604020202020204" charset="0"/>
      <p:regular r:id="rId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1084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as a small Java monitor that turns everyday household readings into a useful usage summary and bill.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project has two layers: first, it observes and calculates; second, it presents the results in a form a household can understand.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from the user to the report. The program is the transformation layer: it receives readings, calculates totals, applies billing logic, and explains the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checklist gathers the concepts used across the monitor. Each item has a practical role in taking input, processing it, and returning a readable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each Java fundamental to the monitor: the class starts the program, variables store readings, Scanner receives input, and operators perform the calculations and comparisons.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if-else is the decision point. The same input becomes a different bill depending on whether it is at or below 500 litres or above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equation to explain the method aloud. The method adds morning and evening usage, then returns total water consumption for later billing and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dashboard from individual areas to the total. A breakdown makes comparison possible; comparison makes high usage and possible abnormal usage easier to notice.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sample breakdown to show the decision path: 330 litres is the total, the billing rule interprets that total, and the monitor presents the final bill alongside useful awareness prompts.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5135" y="1173063"/>
            <a:ext cx="6349841" cy="4969073"/>
          </a:xfrm>
          <a:prstGeom prst="rect">
            <a:avLst/>
          </a:prstGeom>
          <a:solidFill>
            <a:srgbClr val="E6EEFB"/>
          </a:solidFill>
          <a:ln w="12700">
            <a:solidFill>
              <a:srgbClr val="1B4A9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1028674" y="1290321"/>
            <a:ext cx="6121247" cy="467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kern="100" spc="13" dirty="0">
                <a:solidFill>
                  <a:srgbClr val="1B4A9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Capstone Project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28674" y="1812925"/>
            <a:ext cx="5511662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kern="100" spc="-88" dirty="0">
                <a:solidFill>
                  <a:srgbClr val="1A1A1A"/>
                </a:solidFill>
                <a:latin typeface="Noto Serif Devanagari Black" pitchFamily="34" charset="0"/>
                <a:ea typeface="Noto Serif Devanagari Black" pitchFamily="34" charset="-122"/>
                <a:cs typeface="Noto Serif Devanagari Black" pitchFamily="34" charset="-120"/>
              </a:rPr>
              <a:t>Household Water Usage and Billing Monitor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28674" y="3657600"/>
            <a:ext cx="5511662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Monitor household consumption, calculate bills, identify high usage, and make everyday water use easier to understand.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028674" y="4795143"/>
            <a:ext cx="3692730" cy="31651"/>
          </a:xfrm>
          <a:prstGeom prst="roundRect">
            <a:avLst>
              <a:gd name="adj" fmla="val 49998"/>
            </a:avLst>
          </a:prstGeom>
          <a:solidFill>
            <a:srgbClr val="1B4A9B"/>
          </a:solidFill>
          <a:ln/>
        </p:spPr>
      </p:sp>
      <p:sp>
        <p:nvSpPr>
          <p:cNvPr id="7" name="Text 5"/>
          <p:cNvSpPr/>
          <p:nvPr/>
        </p:nvSpPr>
        <p:spPr>
          <a:xfrm>
            <a:off x="1028674" y="5033189"/>
            <a:ext cx="6121247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6" dirty="0">
                <a:solidFill>
                  <a:srgbClr val="1B4A9B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Household → Water Usage → Monitoring → Bill Calculation → Usage Analysis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28674" y="5382736"/>
            <a:ext cx="5511662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6" dirty="0">
                <a:solidFill>
                  <a:srgbClr val="1B4A9B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Vanshika (2620080035)</a:t>
            </a:r>
            <a:endParaRPr lang="en-US" sz="11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6" dirty="0">
                <a:solidFill>
                  <a:srgbClr val="1B4A9B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Yashasvi (2620030227)</a:t>
            </a:r>
            <a:endParaRPr lang="en-US" sz="11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B5DF0D-E610-5AAB-2465-C80FD8DF9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113" y="0"/>
            <a:ext cx="1701887" cy="6159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6095848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17" dirty="0">
                <a:solidFill>
                  <a:srgbClr val="1B4A9B"/>
                </a:solidFill>
                <a:latin typeface="Ink Free" panose="03080402000500000000" pitchFamily="66" charset="0"/>
                <a:ea typeface="Noto Serif Devanagari ExtraBold" pitchFamily="34" charset="-122"/>
                <a:cs typeface="Noto Serif Devanagari ExtraBold" pitchFamily="34" charset="-120"/>
              </a:rPr>
              <a:t>ABSTRACT</a:t>
            </a:r>
            <a:endParaRPr lang="en-US" sz="3400" dirty="0">
              <a:latin typeface="Ink Free" panose="03080402000500000000" pitchFamily="66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585" y="1236960"/>
            <a:ext cx="6095848" cy="1229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400" kern="100" spc="-22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Turning water use into insight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09585" y="2634555"/>
            <a:ext cx="6095848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The monitor turns separate household readings into a clear report that supports better daily decisions.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09585" y="3449538"/>
            <a:ext cx="244469" cy="244475"/>
          </a:xfrm>
          <a:prstGeom prst="ellipse">
            <a:avLst/>
          </a:prstGeom>
          <a:solidFill>
            <a:srgbClr val="1B4A9B"/>
          </a:solidFill>
          <a:ln w="6350">
            <a:solidFill>
              <a:srgbClr val="3463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331" y="3501926"/>
            <a:ext cx="688561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81050" y="3413026"/>
            <a:ext cx="5724382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dirty="0">
                <a:solidFill>
                  <a:srgbClr val="1B4A9B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Monitor household water consumption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609585" y="3890863"/>
            <a:ext cx="244469" cy="244475"/>
          </a:xfrm>
          <a:prstGeom prst="ellipse">
            <a:avLst/>
          </a:prstGeom>
          <a:solidFill>
            <a:srgbClr val="1B4A9B"/>
          </a:solidFill>
          <a:ln w="6350">
            <a:solidFill>
              <a:srgbClr val="3463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2331" y="3943251"/>
            <a:ext cx="688561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81050" y="3854351"/>
            <a:ext cx="5724382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dirty="0">
                <a:solidFill>
                  <a:srgbClr val="1B4A9B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Calculate water bills based on usage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609585" y="4332188"/>
            <a:ext cx="244469" cy="244475"/>
          </a:xfrm>
          <a:prstGeom prst="ellipse">
            <a:avLst/>
          </a:prstGeom>
          <a:solidFill>
            <a:srgbClr val="1B4A9B"/>
          </a:solidFill>
          <a:ln w="6350">
            <a:solidFill>
              <a:srgbClr val="3463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2331" y="4384576"/>
            <a:ext cx="688561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81050" y="4295676"/>
            <a:ext cx="5724382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dirty="0">
                <a:solidFill>
                  <a:srgbClr val="1B4A9B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Display usage for different household areas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609585" y="4773513"/>
            <a:ext cx="244469" cy="244475"/>
          </a:xfrm>
          <a:prstGeom prst="ellipse">
            <a:avLst/>
          </a:prstGeom>
          <a:solidFill>
            <a:srgbClr val="1B4A9B"/>
          </a:solidFill>
          <a:ln w="6350">
            <a:solidFill>
              <a:srgbClr val="3463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2331" y="4825901"/>
            <a:ext cx="688561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81050" y="4737001"/>
            <a:ext cx="5724382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dirty="0">
                <a:solidFill>
                  <a:srgbClr val="1B4A9B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Identify high water consumption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609585" y="5214838"/>
            <a:ext cx="244469" cy="244475"/>
          </a:xfrm>
          <a:prstGeom prst="ellipse">
            <a:avLst/>
          </a:prstGeom>
          <a:solidFill>
            <a:srgbClr val="1B4A9B"/>
          </a:solidFill>
          <a:ln w="6350">
            <a:solidFill>
              <a:srgbClr val="3463B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2331" y="5267226"/>
            <a:ext cx="688561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81050" y="5178326"/>
            <a:ext cx="5724382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dirty="0">
                <a:solidFill>
                  <a:srgbClr val="1B4A9B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Encourage water conservation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315017" y="0"/>
            <a:ext cx="4876678" cy="6223000"/>
          </a:xfrm>
          <a:prstGeom prst="rect">
            <a:avLst/>
          </a:prstGeom>
          <a:solidFill>
            <a:srgbClr val="E6EEFB"/>
          </a:solidFill>
          <a:ln/>
        </p:spPr>
      </p:sp>
      <p:sp>
        <p:nvSpPr>
          <p:cNvPr id="21" name="Text 19"/>
          <p:cNvSpPr/>
          <p:nvPr/>
        </p:nvSpPr>
        <p:spPr>
          <a:xfrm>
            <a:off x="7619809" y="1656259"/>
            <a:ext cx="457188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100" spc="13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619809" y="1917402"/>
            <a:ext cx="4267093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17" dirty="0">
                <a:solidFill>
                  <a:srgbClr val="000000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What the program should deliver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7619809" y="3035598"/>
            <a:ext cx="4267093" cy="154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Monitor water usage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Calculate total consumption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Generate billing information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Detect high usage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Provide a usage breakdown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0" y="6223000"/>
            <a:ext cx="12191695" cy="9525"/>
          </a:xfrm>
          <a:prstGeom prst="rect">
            <a:avLst/>
          </a:prstGeom>
          <a:solidFill>
            <a:srgbClr val="1A1A1A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1951691" y="6452989"/>
            <a:ext cx="240004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2</a:t>
            </a:r>
            <a:endParaRPr lang="en-US" sz="9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83ACEA0-C3CF-E45E-C3CD-6D5AE369E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9808" y="-40697"/>
            <a:ext cx="1701887" cy="6159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52611"/>
            <a:ext cx="7111822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kern="100" spc="13" dirty="0">
                <a:solidFill>
                  <a:srgbClr val="1B4A9B"/>
                </a:solidFill>
                <a:latin typeface="Ink Free" panose="03080402000500000000" pitchFamily="66" charset="0"/>
                <a:ea typeface="Noto Sans Bold" pitchFamily="34" charset="-122"/>
                <a:cs typeface="Noto Sans Bold" pitchFamily="34" charset="-120"/>
              </a:rPr>
              <a:t>SYSTEM ARCHITECTURE</a:t>
            </a:r>
            <a:endParaRPr lang="en-US" sz="2400" dirty="0">
              <a:latin typeface="Ink Free" panose="03080402000500000000" pitchFamily="66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585" y="885825"/>
            <a:ext cx="6502237" cy="1843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400" kern="100" spc="-22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System architecture: input becomes a useful report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09585" y="2898080"/>
            <a:ext cx="6502237" cy="2457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21000"/>
              </a:lnSpc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User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Font typeface="+mj-lt"/>
              <a:buAutoNum type="arabicPeriod" startAt="2"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Input water usage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Font typeface="+mj-lt"/>
              <a:buAutoNum type="arabicPeriod" startAt="3"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Java layer: Scanner/Input, Variables, Calculation, If-Else Conditions, Billing Logic, Usage Monitoring, and Output.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Font typeface="+mj-lt"/>
              <a:buAutoNum type="arabicPeriod" startAt="4"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Calculate total usage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Font typeface="+mj-lt"/>
              <a:buAutoNum type="arabicPeriod" startAt="5"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Bill calculation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Font typeface="+mj-lt"/>
              <a:buAutoNum type="arabicPeriod" startAt="6"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Usage analysis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Font typeface="+mj-lt"/>
              <a:buAutoNum type="arabicPeriod" startAt="7"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Output / report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21407" y="0"/>
            <a:ext cx="4470288" cy="6223000"/>
          </a:xfrm>
          <a:prstGeom prst="rect">
            <a:avLst/>
          </a:prstGeom>
          <a:solidFill>
            <a:srgbClr val="E6EEFB"/>
          </a:solidFill>
          <a:ln/>
        </p:spPr>
      </p:sp>
      <p:sp>
        <p:nvSpPr>
          <p:cNvPr id="6" name="Shape 4"/>
          <p:cNvSpPr/>
          <p:nvPr/>
        </p:nvSpPr>
        <p:spPr>
          <a:xfrm>
            <a:off x="7950001" y="228600"/>
            <a:ext cx="4013100" cy="5301655"/>
          </a:xfrm>
          <a:prstGeom prst="rect">
            <a:avLst/>
          </a:prstGeom>
          <a:solidFill>
            <a:srgbClr val="FFFFFF"/>
          </a:solidFill>
          <a:ln w="12700">
            <a:solidFill>
              <a:srgbClr val="1B4A9B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8899" y="317500"/>
            <a:ext cx="3835304" cy="512385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50001" y="5607963"/>
            <a:ext cx="4013100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6" dirty="0">
                <a:solidFill>
                  <a:srgbClr val="1A1A1A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The Java layer combines input, variables, calculation, conditions, billing logic, usage monitoring, and output.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0" y="6223000"/>
            <a:ext cx="12191695" cy="9525"/>
          </a:xfrm>
          <a:prstGeom prst="rect">
            <a:avLst/>
          </a:prstGeom>
          <a:solidFill>
            <a:srgbClr val="1A1A1A">
              <a:alpha val="2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1951691" y="6452989"/>
            <a:ext cx="240004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3</a:t>
            </a:r>
            <a:endParaRPr lang="en-US" sz="9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CB34BA6-3696-F866-79B5-198EC579F6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113" y="-9525"/>
            <a:ext cx="1701887" cy="61598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73AAA5C-75DB-A27C-453A-1AF753B234AC}"/>
              </a:ext>
            </a:extLst>
          </p:cNvPr>
          <p:cNvSpPr txBox="1"/>
          <p:nvPr/>
        </p:nvSpPr>
        <p:spPr>
          <a:xfrm flipH="1">
            <a:off x="132080" y="5268893"/>
            <a:ext cx="16865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Ink Free" panose="03080402000500000000" pitchFamily="66" charset="0"/>
              </a:rPr>
              <a:t>FUTURE SCOPE:-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8509"/>
            <a:ext cx="11582110" cy="192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" dirty="0">
                <a:solidFill>
                  <a:srgbClr val="1B4A9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JAVA TOOLKIT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63600"/>
            <a:ext cx="10972526" cy="574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100" kern="100" spc="-21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Main Java concepts used</a:t>
            </a:r>
            <a:endParaRPr lang="en-US" sz="4100" dirty="0"/>
          </a:p>
        </p:txBody>
      </p:sp>
      <p:sp>
        <p:nvSpPr>
          <p:cNvPr id="4" name="Shape 2"/>
          <p:cNvSpPr/>
          <p:nvPr/>
        </p:nvSpPr>
        <p:spPr>
          <a:xfrm>
            <a:off x="609585" y="1585317"/>
            <a:ext cx="5410065" cy="752376"/>
          </a:xfrm>
          <a:prstGeom prst="rect">
            <a:avLst/>
          </a:prstGeom>
          <a:solidFill>
            <a:srgbClr val="E6EEFB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82" y="1648817"/>
            <a:ext cx="445283" cy="4452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37455" y="1648817"/>
            <a:ext cx="4380597" cy="270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Scanner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537455" y="2024360"/>
            <a:ext cx="4380597" cy="249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Read user input.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182" y="2553593"/>
            <a:ext cx="445283" cy="44529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37455" y="2553593"/>
            <a:ext cx="4380597" cy="270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Data types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1537455" y="2929136"/>
            <a:ext cx="4380597" cy="249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Define stored values.</a:t>
            </a:r>
            <a:endParaRPr 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182" y="3458369"/>
            <a:ext cx="445283" cy="44529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37455" y="3458369"/>
            <a:ext cx="4380597" cy="270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Variables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1537455" y="3833912"/>
            <a:ext cx="4380597" cy="249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Hold readings.</a:t>
            </a:r>
            <a:endParaRPr lang="en-US" sz="14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182" y="4363145"/>
            <a:ext cx="445283" cy="44529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537455" y="4363145"/>
            <a:ext cx="4380597" cy="270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If-else statement</a:t>
            </a:r>
            <a:endParaRPr lang="en-US" sz="1650" dirty="0"/>
          </a:p>
        </p:txBody>
      </p:sp>
      <p:sp>
        <p:nvSpPr>
          <p:cNvPr id="16" name="Text 10"/>
          <p:cNvSpPr/>
          <p:nvPr/>
        </p:nvSpPr>
        <p:spPr>
          <a:xfrm>
            <a:off x="1537455" y="4738688"/>
            <a:ext cx="4380597" cy="249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Choose a billing path.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609585" y="5204420"/>
            <a:ext cx="5410065" cy="752376"/>
          </a:xfrm>
          <a:prstGeom prst="rect">
            <a:avLst/>
          </a:prstGeom>
          <a:solidFill>
            <a:srgbClr val="E6EEFB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182" y="5267920"/>
            <a:ext cx="445283" cy="44529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537455" y="5267920"/>
            <a:ext cx="4380597" cy="270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Relational operators</a:t>
            </a:r>
            <a:endParaRPr lang="en-US" sz="1650" dirty="0"/>
          </a:p>
        </p:txBody>
      </p:sp>
      <p:sp>
        <p:nvSpPr>
          <p:cNvPr id="20" name="Text 13"/>
          <p:cNvSpPr/>
          <p:nvPr/>
        </p:nvSpPr>
        <p:spPr>
          <a:xfrm>
            <a:off x="1537455" y="5643463"/>
            <a:ext cx="4380597" cy="249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Compare usage.</a:t>
            </a:r>
            <a:endParaRPr lang="en-US" sz="14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1182" y="6172696"/>
            <a:ext cx="445283" cy="44529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537455" y="6172696"/>
            <a:ext cx="4380597" cy="270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Arithmetic operators</a:t>
            </a:r>
            <a:endParaRPr lang="en-US" sz="1650" dirty="0"/>
          </a:p>
        </p:txBody>
      </p:sp>
      <p:sp>
        <p:nvSpPr>
          <p:cNvPr id="23" name="Text 15"/>
          <p:cNvSpPr/>
          <p:nvPr/>
        </p:nvSpPr>
        <p:spPr>
          <a:xfrm>
            <a:off x="1537455" y="6548239"/>
            <a:ext cx="4380597" cy="249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Calculate totals.</a:t>
            </a:r>
            <a:endParaRPr lang="en-US" sz="14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3643" y="1648817"/>
            <a:ext cx="445283" cy="445294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099916" y="1648817"/>
            <a:ext cx="4380597" cy="270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Input statement</a:t>
            </a:r>
            <a:endParaRPr lang="en-US" sz="1650" dirty="0"/>
          </a:p>
        </p:txBody>
      </p:sp>
      <p:sp>
        <p:nvSpPr>
          <p:cNvPr id="26" name="Text 17"/>
          <p:cNvSpPr/>
          <p:nvPr/>
        </p:nvSpPr>
        <p:spPr>
          <a:xfrm>
            <a:off x="7099916" y="2024360"/>
            <a:ext cx="4380597" cy="249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Accept values.</a:t>
            </a:r>
            <a:endParaRPr lang="en-US" sz="140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73643" y="2734469"/>
            <a:ext cx="445283" cy="445294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7099916" y="2734469"/>
            <a:ext cx="4380597" cy="270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Output statement</a:t>
            </a:r>
            <a:endParaRPr lang="en-US" sz="1650" dirty="0"/>
          </a:p>
        </p:txBody>
      </p:sp>
      <p:sp>
        <p:nvSpPr>
          <p:cNvPr id="29" name="Text 19"/>
          <p:cNvSpPr/>
          <p:nvPr/>
        </p:nvSpPr>
        <p:spPr>
          <a:xfrm>
            <a:off x="7099916" y="3110012"/>
            <a:ext cx="4380597" cy="249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Show results.</a:t>
            </a:r>
            <a:endParaRPr lang="en-US" sz="1400" dirty="0"/>
          </a:p>
        </p:txBody>
      </p:sp>
      <p:sp>
        <p:nvSpPr>
          <p:cNvPr id="30" name="Shape 20"/>
          <p:cNvSpPr/>
          <p:nvPr/>
        </p:nvSpPr>
        <p:spPr>
          <a:xfrm>
            <a:off x="6172046" y="3756720"/>
            <a:ext cx="5410065" cy="933351"/>
          </a:xfrm>
          <a:prstGeom prst="rect">
            <a:avLst/>
          </a:prstGeom>
          <a:solidFill>
            <a:srgbClr val="E6EEFB"/>
          </a:solidFill>
          <a:ln/>
        </p:spPr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73643" y="3820220"/>
            <a:ext cx="445283" cy="445294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7099916" y="3820220"/>
            <a:ext cx="4380597" cy="270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Class and main method</a:t>
            </a:r>
            <a:endParaRPr lang="en-US" sz="1650" dirty="0"/>
          </a:p>
        </p:txBody>
      </p:sp>
      <p:sp>
        <p:nvSpPr>
          <p:cNvPr id="33" name="Text 22"/>
          <p:cNvSpPr/>
          <p:nvPr/>
        </p:nvSpPr>
        <p:spPr>
          <a:xfrm>
            <a:off x="7099916" y="4195763"/>
            <a:ext cx="4380597" cy="249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Organize execution.</a:t>
            </a:r>
            <a:endParaRPr lang="en-US" sz="1400" dirty="0"/>
          </a:p>
        </p:txBody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73643" y="4905970"/>
            <a:ext cx="445283" cy="445294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7099916" y="4905970"/>
            <a:ext cx="4380597" cy="270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Methods</a:t>
            </a:r>
            <a:endParaRPr lang="en-US" sz="1650" dirty="0"/>
          </a:p>
        </p:txBody>
      </p:sp>
      <p:sp>
        <p:nvSpPr>
          <p:cNvPr id="36" name="Text 24"/>
          <p:cNvSpPr/>
          <p:nvPr/>
        </p:nvSpPr>
        <p:spPr>
          <a:xfrm>
            <a:off x="7099916" y="5281513"/>
            <a:ext cx="4380597" cy="249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Reuse calculations.</a:t>
            </a:r>
            <a:endParaRPr lang="en-US" sz="140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73643" y="5991721"/>
            <a:ext cx="445283" cy="445294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7099916" y="5991721"/>
            <a:ext cx="4380597" cy="270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Parameters and return values</a:t>
            </a:r>
            <a:endParaRPr lang="en-US" sz="1650" dirty="0"/>
          </a:p>
        </p:txBody>
      </p:sp>
      <p:sp>
        <p:nvSpPr>
          <p:cNvPr id="39" name="Text 26"/>
          <p:cNvSpPr/>
          <p:nvPr/>
        </p:nvSpPr>
        <p:spPr>
          <a:xfrm>
            <a:off x="7099916" y="6367264"/>
            <a:ext cx="4380597" cy="249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Send and receive data.</a:t>
            </a:r>
            <a:endParaRPr lang="en-US" sz="1400" dirty="0"/>
          </a:p>
        </p:txBody>
      </p:sp>
      <p:sp>
        <p:nvSpPr>
          <p:cNvPr id="40" name="Shape 27"/>
          <p:cNvSpPr/>
          <p:nvPr/>
        </p:nvSpPr>
        <p:spPr>
          <a:xfrm>
            <a:off x="0" y="6223000"/>
            <a:ext cx="12191695" cy="9525"/>
          </a:xfrm>
          <a:prstGeom prst="rect">
            <a:avLst/>
          </a:prstGeom>
          <a:solidFill>
            <a:srgbClr val="1A1A1A">
              <a:alpha val="20000"/>
            </a:srgbClr>
          </a:solidFill>
          <a:ln/>
        </p:spPr>
      </p:sp>
      <p:sp>
        <p:nvSpPr>
          <p:cNvPr id="41" name="Text 28"/>
          <p:cNvSpPr/>
          <p:nvPr/>
        </p:nvSpPr>
        <p:spPr>
          <a:xfrm>
            <a:off x="11951691" y="6452989"/>
            <a:ext cx="240004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9</a:t>
            </a:r>
            <a:endParaRPr lang="en-US" sz="95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F108B3AC-894A-AC1F-12C4-97B122A3C7C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490113" y="-10239"/>
            <a:ext cx="1701887" cy="6159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6089" y="452990"/>
            <a:ext cx="7111822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kern="100" spc="13" dirty="0">
                <a:solidFill>
                  <a:srgbClr val="1B4A9B"/>
                </a:solidFill>
                <a:latin typeface="Ink Free" panose="03080402000500000000" pitchFamily="66" charset="0"/>
                <a:ea typeface="Noto Sans Bold" pitchFamily="34" charset="-122"/>
                <a:cs typeface="Noto Sans Bold" pitchFamily="34" charset="-120"/>
              </a:rPr>
              <a:t>CO1 · JAVA FUNDAMENTALS</a:t>
            </a:r>
            <a:endParaRPr lang="en-US" sz="2000" dirty="0">
              <a:latin typeface="Ink Free" panose="03080402000500000000" pitchFamily="66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585" y="885825"/>
            <a:ext cx="6502237" cy="614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400" kern="100" spc="-22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Java: the foundation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1668760"/>
            <a:ext cx="3174921" cy="542925"/>
          </a:xfrm>
          <a:prstGeom prst="rect">
            <a:avLst/>
          </a:prstGeom>
          <a:solidFill>
            <a:srgbClr val="E6EEFB"/>
          </a:solidFill>
          <a:ln/>
        </p:spPr>
      </p:sp>
      <p:sp>
        <p:nvSpPr>
          <p:cNvPr id="5" name="Text 3"/>
          <p:cNvSpPr/>
          <p:nvPr/>
        </p:nvSpPr>
        <p:spPr>
          <a:xfrm>
            <a:off x="761981" y="1795760"/>
            <a:ext cx="2870128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Class and main method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3936902" y="1668760"/>
            <a:ext cx="3174921" cy="542925"/>
          </a:xfrm>
          <a:prstGeom prst="rect">
            <a:avLst/>
          </a:prstGeom>
          <a:solidFill>
            <a:srgbClr val="DDEFEC"/>
          </a:solidFill>
          <a:ln/>
        </p:spPr>
      </p:sp>
      <p:sp>
        <p:nvSpPr>
          <p:cNvPr id="7" name="Text 5"/>
          <p:cNvSpPr/>
          <p:nvPr/>
        </p:nvSpPr>
        <p:spPr>
          <a:xfrm>
            <a:off x="4089298" y="1795760"/>
            <a:ext cx="2870128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Variables and data types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609585" y="2363986"/>
            <a:ext cx="3174921" cy="831850"/>
          </a:xfrm>
          <a:prstGeom prst="rect">
            <a:avLst/>
          </a:prstGeom>
          <a:solidFill>
            <a:srgbClr val="E6EEFB"/>
          </a:solidFill>
          <a:ln/>
        </p:spPr>
      </p:sp>
      <p:sp>
        <p:nvSpPr>
          <p:cNvPr id="9" name="Text 7"/>
          <p:cNvSpPr/>
          <p:nvPr/>
        </p:nvSpPr>
        <p:spPr>
          <a:xfrm>
            <a:off x="761981" y="2490986"/>
            <a:ext cx="2870128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Scanner for input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3936902" y="2363986"/>
            <a:ext cx="3174921" cy="831850"/>
          </a:xfrm>
          <a:prstGeom prst="rect">
            <a:avLst/>
          </a:prstGeom>
          <a:solidFill>
            <a:srgbClr val="DDEFEC"/>
          </a:solidFill>
          <a:ln/>
        </p:spPr>
      </p:sp>
      <p:sp>
        <p:nvSpPr>
          <p:cNvPr id="11" name="Text 9"/>
          <p:cNvSpPr/>
          <p:nvPr/>
        </p:nvSpPr>
        <p:spPr>
          <a:xfrm>
            <a:off x="4089298" y="2490986"/>
            <a:ext cx="2870128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Input and output statements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609585" y="3348137"/>
            <a:ext cx="3174921" cy="542925"/>
          </a:xfrm>
          <a:prstGeom prst="rect">
            <a:avLst/>
          </a:prstGeom>
          <a:solidFill>
            <a:srgbClr val="E6EEFB"/>
          </a:solidFill>
          <a:ln/>
        </p:spPr>
      </p:sp>
      <p:sp>
        <p:nvSpPr>
          <p:cNvPr id="13" name="Text 11"/>
          <p:cNvSpPr/>
          <p:nvPr/>
        </p:nvSpPr>
        <p:spPr>
          <a:xfrm>
            <a:off x="761981" y="3475137"/>
            <a:ext cx="2870128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Arithmetic operators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3936902" y="3348137"/>
            <a:ext cx="3174921" cy="542925"/>
          </a:xfrm>
          <a:prstGeom prst="rect">
            <a:avLst/>
          </a:prstGeom>
          <a:solidFill>
            <a:srgbClr val="DDEFEC"/>
          </a:solidFill>
          <a:ln/>
        </p:spPr>
      </p:sp>
      <p:sp>
        <p:nvSpPr>
          <p:cNvPr id="15" name="Text 13"/>
          <p:cNvSpPr/>
          <p:nvPr/>
        </p:nvSpPr>
        <p:spPr>
          <a:xfrm>
            <a:off x="4089298" y="3475137"/>
            <a:ext cx="2870128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Relational operators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609585" y="4043462"/>
            <a:ext cx="6502237" cy="1450975"/>
          </a:xfrm>
          <a:prstGeom prst="rect">
            <a:avLst/>
          </a:prstGeom>
          <a:solidFill>
            <a:srgbClr val="1F5E5A"/>
          </a:solidFill>
          <a:ln/>
        </p:spPr>
      </p:sp>
      <p:sp>
        <p:nvSpPr>
          <p:cNvPr id="17" name="Text 15"/>
          <p:cNvSpPr/>
          <p:nvPr/>
        </p:nvSpPr>
        <p:spPr>
          <a:xfrm>
            <a:off x="838179" y="4261743"/>
            <a:ext cx="6273643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100" spc="13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INPUT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8179" y="4551462"/>
            <a:ext cx="6045049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75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Scanner sc = new Scanner(System.in);</a:t>
            </a:r>
            <a:endParaRPr lang="en-US" sz="15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kitchenUsage;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721407" y="0"/>
            <a:ext cx="4470288" cy="6223000"/>
          </a:xfrm>
          <a:prstGeom prst="rect">
            <a:avLst/>
          </a:prstGeom>
          <a:solidFill>
            <a:srgbClr val="E6EEFB"/>
          </a:solidFill>
          <a:ln/>
        </p:spPr>
      </p:sp>
      <p:sp>
        <p:nvSpPr>
          <p:cNvPr id="20" name="Shape 18"/>
          <p:cNvSpPr/>
          <p:nvPr/>
        </p:nvSpPr>
        <p:spPr>
          <a:xfrm>
            <a:off x="7950001" y="228600"/>
            <a:ext cx="4013100" cy="5244505"/>
          </a:xfrm>
          <a:prstGeom prst="rect">
            <a:avLst/>
          </a:prstGeom>
          <a:solidFill>
            <a:srgbClr val="FFFFFF"/>
          </a:solidFill>
          <a:ln w="12700">
            <a:solidFill>
              <a:srgbClr val="1B4A9B"/>
            </a:solidFill>
            <a:prstDash val="solid"/>
          </a:ln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8899" y="317500"/>
            <a:ext cx="3835304" cy="5066705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950001" y="5607963"/>
            <a:ext cx="4013100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6" dirty="0">
                <a:solidFill>
                  <a:srgbClr val="1A1A1A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Small building blocks make the monitor readable and testable.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0" y="6223000"/>
            <a:ext cx="12191695" cy="9525"/>
          </a:xfrm>
          <a:prstGeom prst="rect">
            <a:avLst/>
          </a:prstGeom>
          <a:solidFill>
            <a:srgbClr val="1A1A1A">
              <a:alpha val="20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11951691" y="6452989"/>
            <a:ext cx="240004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4</a:t>
            </a:r>
            <a:endParaRPr lang="en-US" sz="9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AB68715-84DA-83FC-EE94-6D81AE35A2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9808" y="23098"/>
            <a:ext cx="1701887" cy="61598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68895"/>
            <a:ext cx="7518212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kern="100" spc="13" dirty="0">
                <a:solidFill>
                  <a:srgbClr val="1B4A9B"/>
                </a:solidFill>
                <a:latin typeface="Ink Free" panose="03080402000500000000" pitchFamily="66" charset="0"/>
                <a:ea typeface="Noto Sans Bold" pitchFamily="34" charset="-122"/>
                <a:cs typeface="Noto Sans Bold" pitchFamily="34" charset="-120"/>
              </a:rPr>
              <a:t>CO2 · DECISION LOGIC</a:t>
            </a:r>
            <a:endParaRPr lang="en-US" sz="2000" dirty="0">
              <a:latin typeface="Ink Free" panose="03080402000500000000" pitchFamily="66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585" y="885825"/>
            <a:ext cx="6908627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17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CO2 — If-else turns consumption into a bill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2004020"/>
            <a:ext cx="6908627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115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-120"/>
              </a:rPr>
              <a:t>Input → Check consumption → If/Else → Bill → Display</a:t>
            </a:r>
            <a:endParaRPr lang="en-US" sz="15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Read consumption and compare with 500 litres; If/Else selects the billing rule and displays a clear result.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780" y="3315295"/>
            <a:ext cx="2971726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Water consumption ≤ 500 litres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812780" y="4013795"/>
            <a:ext cx="3174921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-120"/>
              </a:rPr>
              <a:t>Bill = ₹100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343291" y="3315295"/>
            <a:ext cx="2971726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Water consumption &gt; 500 litres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4343291" y="4013795"/>
            <a:ext cx="3174921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-120"/>
              </a:rPr>
              <a:t>Bill = ₹200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9585" y="4620220"/>
            <a:ext cx="6908627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Comparison supports decision making. Billing logic converts a reading into a clear result.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27797" y="0"/>
            <a:ext cx="4063898" cy="6223000"/>
          </a:xfrm>
          <a:prstGeom prst="rect">
            <a:avLst/>
          </a:prstGeom>
          <a:solidFill>
            <a:srgbClr val="E6EEFB"/>
          </a:solidFill>
          <a:ln/>
        </p:spPr>
      </p:sp>
      <p:sp>
        <p:nvSpPr>
          <p:cNvPr id="11" name="Shape 9"/>
          <p:cNvSpPr/>
          <p:nvPr/>
        </p:nvSpPr>
        <p:spPr>
          <a:xfrm>
            <a:off x="8356391" y="228600"/>
            <a:ext cx="3606710" cy="576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4A9B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289" y="317500"/>
            <a:ext cx="3428914" cy="55880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0" y="6223000"/>
            <a:ext cx="12191695" cy="9525"/>
          </a:xfrm>
          <a:prstGeom prst="rect">
            <a:avLst/>
          </a:prstGeom>
          <a:solidFill>
            <a:srgbClr val="1A1A1A">
              <a:alpha val="2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11951691" y="6452989"/>
            <a:ext cx="240004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5</a:t>
            </a:r>
            <a:endParaRPr lang="en-US" sz="9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F6B863E-849B-437C-F1D6-2CA2DA07D3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9808" y="-34941"/>
            <a:ext cx="1701887" cy="6159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9583" y="424378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kern="100" spc="13" dirty="0">
                <a:solidFill>
                  <a:srgbClr val="1B4A9B"/>
                </a:solidFill>
                <a:latin typeface="Ink Free" panose="03080402000500000000" pitchFamily="66" charset="0"/>
                <a:ea typeface="Noto Sans Bold" pitchFamily="34" charset="-122"/>
                <a:cs typeface="Noto Sans Bold" pitchFamily="34" charset="-120"/>
              </a:rPr>
              <a:t>CO3 · REUSABLE METHODS</a:t>
            </a:r>
            <a:endParaRPr lang="en-US" sz="2000" dirty="0">
              <a:latin typeface="Ink Free" panose="03080402000500000000" pitchFamily="66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585" y="885825"/>
            <a:ext cx="10972526" cy="614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400" kern="100" spc="-22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Methods keep calculations reusable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09585" y="1668760"/>
            <a:ext cx="10972526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A method receives values as parameters, performs one focused task, and returns a result the rest of the program can use.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9585" y="2373610"/>
            <a:ext cx="3454314" cy="1217216"/>
          </a:xfrm>
          <a:prstGeom prst="rect">
            <a:avLst/>
          </a:prstGeom>
          <a:solidFill>
            <a:srgbClr val="E6EEFB"/>
          </a:solidFill>
          <a:ln/>
        </p:spPr>
      </p:sp>
      <p:sp>
        <p:nvSpPr>
          <p:cNvPr id="6" name="Text 4"/>
          <p:cNvSpPr/>
          <p:nvPr/>
        </p:nvSpPr>
        <p:spPr>
          <a:xfrm>
            <a:off x="863578" y="2602210"/>
            <a:ext cx="2946326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Morning Usage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3578" y="3086001"/>
            <a:ext cx="320032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One input value.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68691" y="2373610"/>
            <a:ext cx="3454314" cy="1217216"/>
          </a:xfrm>
          <a:prstGeom prst="rect">
            <a:avLst/>
          </a:prstGeom>
          <a:solidFill>
            <a:srgbClr val="DDEFEC"/>
          </a:solidFill>
          <a:ln/>
        </p:spPr>
      </p:sp>
      <p:sp>
        <p:nvSpPr>
          <p:cNvPr id="9" name="Text 7"/>
          <p:cNvSpPr/>
          <p:nvPr/>
        </p:nvSpPr>
        <p:spPr>
          <a:xfrm>
            <a:off x="4622684" y="2602210"/>
            <a:ext cx="2946326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Evening Usage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622684" y="3086001"/>
            <a:ext cx="320032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Another input value.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27797" y="2373610"/>
            <a:ext cx="3454314" cy="1217216"/>
          </a:xfrm>
          <a:prstGeom prst="rect">
            <a:avLst/>
          </a:prstGeom>
          <a:solidFill>
            <a:srgbClr val="FFF1CC"/>
          </a:solidFill>
          <a:ln/>
        </p:spPr>
      </p:sp>
      <p:sp>
        <p:nvSpPr>
          <p:cNvPr id="12" name="Text 10"/>
          <p:cNvSpPr/>
          <p:nvPr/>
        </p:nvSpPr>
        <p:spPr>
          <a:xfrm>
            <a:off x="8381790" y="2602210"/>
            <a:ext cx="2946326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Total Consumption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381790" y="3086001"/>
            <a:ext cx="320032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One returned result.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09585" y="3743226"/>
            <a:ext cx="10972526" cy="1225550"/>
          </a:xfrm>
          <a:prstGeom prst="rect">
            <a:avLst/>
          </a:prstGeom>
          <a:noFill/>
          <a:ln w="19050">
            <a:solidFill>
              <a:srgbClr val="1B4A9B"/>
            </a:solidFill>
            <a:prstDash val="solid"/>
          </a:ln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874" y="3990876"/>
            <a:ext cx="6209946" cy="3111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695608" y="4400451"/>
            <a:ext cx="5410065" cy="320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calculateTotal(morningUsage, eveningUsage)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09585" y="5121176"/>
            <a:ext cx="1158211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Reusable code keeps the program organized.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0" y="6223000"/>
            <a:ext cx="12191695" cy="9525"/>
          </a:xfrm>
          <a:prstGeom prst="rect">
            <a:avLst/>
          </a:prstGeom>
          <a:solidFill>
            <a:srgbClr val="1A1A1A">
              <a:alpha val="20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11951691" y="6452989"/>
            <a:ext cx="240004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6</a:t>
            </a:r>
            <a:endParaRPr lang="en-US" sz="9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0A1B830-4C06-FFFA-BF62-CFCB9977A1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113" y="401"/>
            <a:ext cx="1701887" cy="61598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44249"/>
            <a:ext cx="1097252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kern="100" spc="13" dirty="0">
                <a:solidFill>
                  <a:srgbClr val="1B4A9B"/>
                </a:solidFill>
                <a:latin typeface="Ink Free" panose="03080402000500000000" pitchFamily="66" charset="0"/>
                <a:ea typeface="Noto Sans Bold" pitchFamily="34" charset="-122"/>
                <a:cs typeface="Noto Sans Bold" pitchFamily="34" charset="-120"/>
              </a:rPr>
              <a:t>CO4 · MONITORING</a:t>
            </a:r>
            <a:endParaRPr lang="en-US" sz="2000" dirty="0">
              <a:latin typeface="Ink Free" panose="03080402000500000000" pitchFamily="66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585" y="875149"/>
            <a:ext cx="10972526" cy="614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400" kern="100" spc="-22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Monitoring reveals patterns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1668760"/>
            <a:ext cx="2628834" cy="1614388"/>
          </a:xfrm>
          <a:prstGeom prst="rect">
            <a:avLst/>
          </a:prstGeom>
          <a:solidFill>
            <a:srgbClr val="E6EEFB"/>
          </a:solidFill>
          <a:ln/>
        </p:spPr>
      </p:sp>
      <p:sp>
        <p:nvSpPr>
          <p:cNvPr id="5" name="Text 3"/>
          <p:cNvSpPr/>
          <p:nvPr/>
        </p:nvSpPr>
        <p:spPr>
          <a:xfrm>
            <a:off x="787380" y="1803618"/>
            <a:ext cx="2451039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6" dirty="0">
                <a:solidFill>
                  <a:srgbClr val="000000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Kitchen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87380" y="2145308"/>
            <a:ext cx="2273243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100 L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87380" y="2676723"/>
            <a:ext cx="750075" cy="57150"/>
          </a:xfrm>
          <a:prstGeom prst="roundRect">
            <a:avLst>
              <a:gd name="adj" fmla="val 49999"/>
            </a:avLst>
          </a:prstGeom>
          <a:solidFill>
            <a:srgbClr val="1B4A9B"/>
          </a:solidFill>
          <a:ln/>
        </p:spPr>
      </p:sp>
      <p:sp>
        <p:nvSpPr>
          <p:cNvPr id="8" name="Text 6"/>
          <p:cNvSpPr/>
          <p:nvPr/>
        </p:nvSpPr>
        <p:spPr>
          <a:xfrm>
            <a:off x="787380" y="2879923"/>
            <a:ext cx="2451039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Usage meter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568611" y="1803618"/>
            <a:ext cx="2451039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6" dirty="0">
                <a:solidFill>
                  <a:srgbClr val="1A1A1A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Bathroom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568611" y="2145308"/>
            <a:ext cx="2273243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150 L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568611" y="2676723"/>
            <a:ext cx="1522970" cy="57150"/>
          </a:xfrm>
          <a:prstGeom prst="roundRect">
            <a:avLst>
              <a:gd name="adj" fmla="val 49999"/>
            </a:avLst>
          </a:prstGeom>
          <a:solidFill>
            <a:srgbClr val="1B4A9B"/>
          </a:solidFill>
          <a:ln/>
        </p:spPr>
      </p:sp>
      <p:sp>
        <p:nvSpPr>
          <p:cNvPr id="12" name="Text 10"/>
          <p:cNvSpPr/>
          <p:nvPr/>
        </p:nvSpPr>
        <p:spPr>
          <a:xfrm>
            <a:off x="3568611" y="2879923"/>
            <a:ext cx="2451039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Usage meter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49841" y="1803618"/>
            <a:ext cx="2451039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6" dirty="0">
                <a:solidFill>
                  <a:srgbClr val="1A1A1A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Garden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349841" y="2145308"/>
            <a:ext cx="2273243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80 L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349841" y="2676723"/>
            <a:ext cx="568311" cy="57150"/>
          </a:xfrm>
          <a:prstGeom prst="roundRect">
            <a:avLst>
              <a:gd name="adj" fmla="val 49999"/>
            </a:avLst>
          </a:prstGeom>
          <a:solidFill>
            <a:srgbClr val="1B4A9B"/>
          </a:solidFill>
          <a:ln/>
        </p:spPr>
      </p:sp>
      <p:sp>
        <p:nvSpPr>
          <p:cNvPr id="16" name="Text 14"/>
          <p:cNvSpPr/>
          <p:nvPr/>
        </p:nvSpPr>
        <p:spPr>
          <a:xfrm>
            <a:off x="6349841" y="2879923"/>
            <a:ext cx="2451039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Usage meter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31072" y="1803618"/>
            <a:ext cx="2451039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6" dirty="0">
                <a:solidFill>
                  <a:srgbClr val="1A1A1A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Total usage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131072" y="2145308"/>
            <a:ext cx="2273243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330 L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131072" y="2676723"/>
            <a:ext cx="1522970" cy="57150"/>
          </a:xfrm>
          <a:prstGeom prst="roundRect">
            <a:avLst>
              <a:gd name="adj" fmla="val 49999"/>
            </a:avLst>
          </a:prstGeom>
          <a:solidFill>
            <a:srgbClr val="1B4A9B"/>
          </a:solidFill>
          <a:ln/>
        </p:spPr>
      </p:sp>
      <p:sp>
        <p:nvSpPr>
          <p:cNvPr id="20" name="Text 18"/>
          <p:cNvSpPr/>
          <p:nvPr/>
        </p:nvSpPr>
        <p:spPr>
          <a:xfrm>
            <a:off x="9131072" y="2879923"/>
            <a:ext cx="2451039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Combined view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09585" y="3381573"/>
            <a:ext cx="3555911" cy="939800"/>
          </a:xfrm>
          <a:prstGeom prst="rect">
            <a:avLst/>
          </a:prstGeom>
          <a:solidFill>
            <a:srgbClr val="E6EEFB"/>
          </a:solidFill>
          <a:ln/>
        </p:spPr>
      </p:sp>
      <p:sp>
        <p:nvSpPr>
          <p:cNvPr id="22" name="Text 20"/>
          <p:cNvSpPr/>
          <p:nvPr/>
        </p:nvSpPr>
        <p:spPr>
          <a:xfrm>
            <a:off x="812780" y="3508573"/>
            <a:ext cx="3149521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Usage breakdown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812780" y="3918148"/>
            <a:ext cx="3352716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Compare household areas.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317892" y="3381573"/>
            <a:ext cx="3555911" cy="939800"/>
          </a:xfrm>
          <a:prstGeom prst="rect">
            <a:avLst/>
          </a:prstGeom>
          <a:solidFill>
            <a:srgbClr val="E6EEFB"/>
          </a:solidFill>
          <a:ln/>
        </p:spPr>
      </p:sp>
      <p:sp>
        <p:nvSpPr>
          <p:cNvPr id="25" name="Text 23"/>
          <p:cNvSpPr/>
          <p:nvPr/>
        </p:nvSpPr>
        <p:spPr>
          <a:xfrm>
            <a:off x="4521087" y="3508573"/>
            <a:ext cx="3149521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High-usage detection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4521087" y="3918148"/>
            <a:ext cx="3352716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Find unusual readings.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026199" y="3381573"/>
            <a:ext cx="3555911" cy="939800"/>
          </a:xfrm>
          <a:prstGeom prst="rect">
            <a:avLst/>
          </a:prstGeom>
          <a:solidFill>
            <a:srgbClr val="E6F4EC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394" y="3508573"/>
            <a:ext cx="3149521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Leak or abnormal-usage alert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8229394" y="3918148"/>
            <a:ext cx="3352716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Act before waste grows.</a:t>
            </a:r>
            <a:endParaRPr lang="en-US" sz="1500" dirty="0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4473773"/>
            <a:ext cx="2016968" cy="1142901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0" y="6223000"/>
            <a:ext cx="12191695" cy="9525"/>
          </a:xfrm>
          <a:prstGeom prst="rect">
            <a:avLst/>
          </a:prstGeom>
          <a:solidFill>
            <a:srgbClr val="1A1A1A">
              <a:alpha val="20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11951691" y="6452989"/>
            <a:ext cx="240004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7</a:t>
            </a:r>
            <a:endParaRPr lang="en-US" sz="95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E74EE70E-0437-9A5C-B765-7374974B58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9808" y="20621"/>
            <a:ext cx="1701887" cy="61598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BB1BD1-756B-25F4-ACBA-7D484B481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8713F1-C04D-6FE3-70A2-83A7400C38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112" y="-5080"/>
            <a:ext cx="1701887" cy="61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172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04BA8B-33AE-6062-DE26-9078F5740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FEF578-878F-F390-4A69-1A49F9808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113" y="0"/>
            <a:ext cx="1701887" cy="61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838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60534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100" spc="13" dirty="0">
                <a:solidFill>
                  <a:srgbClr val="1B4A9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BILLING AND USAGE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885825"/>
            <a:ext cx="10972526" cy="614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400" kern="100" spc="-22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One view, one decision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1668760"/>
            <a:ext cx="5410065" cy="2461816"/>
          </a:xfrm>
          <a:prstGeom prst="rect">
            <a:avLst/>
          </a:prstGeom>
          <a:solidFill>
            <a:srgbClr val="E6EEFB"/>
          </a:solidFill>
          <a:ln/>
        </p:spPr>
      </p:sp>
      <p:sp>
        <p:nvSpPr>
          <p:cNvPr id="5" name="Text 3"/>
          <p:cNvSpPr/>
          <p:nvPr/>
        </p:nvSpPr>
        <p:spPr>
          <a:xfrm>
            <a:off x="812780" y="1846560"/>
            <a:ext cx="5003675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Usage breakdown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12780" y="2330351"/>
            <a:ext cx="5003675" cy="1025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75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Kitchen → 100 L</a:t>
            </a:r>
            <a:endParaRPr lang="en-US" sz="1500" dirty="0"/>
          </a:p>
          <a:p>
            <a:pPr marL="0" indent="0" algn="l">
              <a:lnSpc>
                <a:spcPct val="121000"/>
              </a:lnSpc>
              <a:spcAft>
                <a:spcPts val="75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Bathroom → 150 L</a:t>
            </a:r>
            <a:endParaRPr lang="en-US" sz="15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Garden → 80 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12780" y="3500338"/>
            <a:ext cx="5003576" cy="31651"/>
          </a:xfrm>
          <a:prstGeom prst="roundRect">
            <a:avLst>
              <a:gd name="adj" fmla="val 49998"/>
            </a:avLst>
          </a:prstGeom>
          <a:solidFill>
            <a:srgbClr val="1B4A9B"/>
          </a:solidFill>
          <a:ln/>
        </p:spPr>
      </p:sp>
      <p:sp>
        <p:nvSpPr>
          <p:cNvPr id="8" name="Text 6"/>
          <p:cNvSpPr/>
          <p:nvPr/>
        </p:nvSpPr>
        <p:spPr>
          <a:xfrm>
            <a:off x="812780" y="3676551"/>
            <a:ext cx="520687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-120"/>
              </a:rPr>
              <a:t>Total → 330 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49841" y="2410718"/>
            <a:ext cx="82409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1B4A9B"/>
                </a:solidFill>
                <a:latin typeface="Noto Serif Devanagari SemiBold" pitchFamily="34" charset="0"/>
                <a:ea typeface="Noto Serif Devanagari SemiBold" pitchFamily="34" charset="-122"/>
                <a:cs typeface="Noto Serif Devanagari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49841" y="2677418"/>
            <a:ext cx="1583194" cy="19050"/>
          </a:xfrm>
          <a:prstGeom prst="rect">
            <a:avLst/>
          </a:prstGeom>
          <a:solidFill>
            <a:srgbClr val="1B4A9B"/>
          </a:solidFill>
          <a:ln/>
        </p:spPr>
      </p:sp>
      <p:sp>
        <p:nvSpPr>
          <p:cNvPr id="11" name="Text 9"/>
          <p:cNvSpPr/>
          <p:nvPr/>
        </p:nvSpPr>
        <p:spPr>
          <a:xfrm>
            <a:off x="6349841" y="2810768"/>
            <a:ext cx="158319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dirty="0">
                <a:solidFill>
                  <a:srgbClr val="1B4A9B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Total Consumption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8085431" y="2410718"/>
            <a:ext cx="82409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1B4A9B"/>
                </a:solidFill>
                <a:latin typeface="Noto Serif Devanagari SemiBold" pitchFamily="34" charset="0"/>
                <a:ea typeface="Noto Serif Devanagari SemiBold" pitchFamily="34" charset="-122"/>
                <a:cs typeface="Noto Serif Devanagari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85431" y="2677418"/>
            <a:ext cx="1583194" cy="19050"/>
          </a:xfrm>
          <a:prstGeom prst="rect">
            <a:avLst/>
          </a:prstGeom>
          <a:solidFill>
            <a:srgbClr val="1B4A9B"/>
          </a:solidFill>
          <a:ln/>
        </p:spPr>
      </p:sp>
      <p:sp>
        <p:nvSpPr>
          <p:cNvPr id="14" name="Text 12"/>
          <p:cNvSpPr/>
          <p:nvPr/>
        </p:nvSpPr>
        <p:spPr>
          <a:xfrm>
            <a:off x="8085431" y="2810768"/>
            <a:ext cx="1583194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dirty="0">
                <a:solidFill>
                  <a:srgbClr val="1B4A9B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Billing Logic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9821021" y="2182118"/>
            <a:ext cx="1583194" cy="1435100"/>
          </a:xfrm>
          <a:prstGeom prst="rect">
            <a:avLst/>
          </a:prstGeom>
          <a:solidFill>
            <a:srgbClr val="FFF1CC"/>
          </a:solidFill>
          <a:ln/>
        </p:spPr>
      </p:sp>
      <p:sp>
        <p:nvSpPr>
          <p:cNvPr id="16" name="Text 14"/>
          <p:cNvSpPr/>
          <p:nvPr/>
        </p:nvSpPr>
        <p:spPr>
          <a:xfrm>
            <a:off x="10049616" y="2410718"/>
            <a:ext cx="82409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 SemiBold" pitchFamily="34" charset="0"/>
                <a:ea typeface="Noto Serif Devanagari SemiBold" pitchFamily="34" charset="-122"/>
                <a:cs typeface="Noto Serif Devanagari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049616" y="2677418"/>
            <a:ext cx="1126005" cy="19050"/>
          </a:xfrm>
          <a:prstGeom prst="rect">
            <a:avLst/>
          </a:prstGeom>
          <a:solidFill>
            <a:srgbClr val="1B4A9B"/>
          </a:solidFill>
          <a:ln/>
        </p:spPr>
      </p:sp>
      <p:sp>
        <p:nvSpPr>
          <p:cNvPr id="18" name="Text 16"/>
          <p:cNvSpPr/>
          <p:nvPr/>
        </p:nvSpPr>
        <p:spPr>
          <a:xfrm>
            <a:off x="10049616" y="2810768"/>
            <a:ext cx="1126005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Final Bill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609585" y="4282976"/>
            <a:ext cx="2628834" cy="882650"/>
          </a:xfrm>
          <a:prstGeom prst="rect">
            <a:avLst/>
          </a:prstGeom>
          <a:solidFill>
            <a:srgbClr val="E6EEFB"/>
          </a:solidFill>
          <a:ln/>
        </p:spPr>
      </p:sp>
      <p:sp>
        <p:nvSpPr>
          <p:cNvPr id="20" name="Text 18"/>
          <p:cNvSpPr/>
          <p:nvPr/>
        </p:nvSpPr>
        <p:spPr>
          <a:xfrm>
            <a:off x="787380" y="4435376"/>
            <a:ext cx="227324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Daily usage monitoring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3390815" y="4282976"/>
            <a:ext cx="2628834" cy="882650"/>
          </a:xfrm>
          <a:prstGeom prst="rect">
            <a:avLst/>
          </a:prstGeom>
          <a:solidFill>
            <a:srgbClr val="E6EEFB"/>
          </a:solidFill>
          <a:ln/>
        </p:spPr>
      </p:sp>
      <p:sp>
        <p:nvSpPr>
          <p:cNvPr id="22" name="Text 20"/>
          <p:cNvSpPr/>
          <p:nvPr/>
        </p:nvSpPr>
        <p:spPr>
          <a:xfrm>
            <a:off x="3568611" y="4435376"/>
            <a:ext cx="227324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Consumption comparison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6349841" y="4435376"/>
            <a:ext cx="2273243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High-usage warning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9131072" y="4435376"/>
            <a:ext cx="227324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Water-saving awareness</a:t>
            </a:r>
            <a:endParaRPr lang="en-US" sz="1750" dirty="0"/>
          </a:p>
        </p:txBody>
      </p:sp>
      <p:sp>
        <p:nvSpPr>
          <p:cNvPr id="25" name="Shape 23"/>
          <p:cNvSpPr/>
          <p:nvPr/>
        </p:nvSpPr>
        <p:spPr>
          <a:xfrm>
            <a:off x="0" y="6223000"/>
            <a:ext cx="12191695" cy="9525"/>
          </a:xfrm>
          <a:prstGeom prst="rect">
            <a:avLst/>
          </a:prstGeom>
          <a:solidFill>
            <a:srgbClr val="1A1A1A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1951691" y="6452989"/>
            <a:ext cx="240004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8</a:t>
            </a:r>
            <a:endParaRPr lang="en-US" sz="9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981A87C-820A-0300-3A0C-9FCCB4170E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1195" y="22193"/>
            <a:ext cx="1701887" cy="61598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317CA9-E852-6D47-BF90-98A60E2D9D11}"/>
              </a:ext>
            </a:extLst>
          </p:cNvPr>
          <p:cNvSpPr txBox="1"/>
          <p:nvPr/>
        </p:nvSpPr>
        <p:spPr>
          <a:xfrm>
            <a:off x="355600" y="182880"/>
            <a:ext cx="35356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latin typeface="Ink Free" panose="03080402000500000000" pitchFamily="66" charset="0"/>
              </a:rPr>
              <a:t>Conclusion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B8B5BB-B024-3D64-8DD3-8D044FDC0ED7}"/>
              </a:ext>
            </a:extLst>
          </p:cNvPr>
          <p:cNvSpPr txBox="1"/>
          <p:nvPr/>
        </p:nvSpPr>
        <p:spPr>
          <a:xfrm>
            <a:off x="355600" y="1639614"/>
            <a:ext cx="414282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Book Antiqua" panose="02040602050305030304" pitchFamily="18" charset="0"/>
              </a:rPr>
              <a:t>The Household Water Usage and Billing Monitor demonstrates how Java and web development concepts can be applied to a real-world problem. It combines data handling, conditions, methods, Strings, file I/O, collections, and streams to monitor water usage, calculate bills, and generate useful reports. Overall, the system promotes efficient water usage and conservation.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637408-569A-8AE7-4537-F291E0599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0113" y="0"/>
            <a:ext cx="1701887" cy="61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168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888</Words>
  <Application>Microsoft Office PowerPoint</Application>
  <PresentationFormat>Widescreen</PresentationFormat>
  <Paragraphs>158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4" baseType="lpstr">
      <vt:lpstr>Noto Serif Devanagari SemiBold</vt:lpstr>
      <vt:lpstr>Noto Sans Medium</vt:lpstr>
      <vt:lpstr>Ink Free</vt:lpstr>
      <vt:lpstr>Consolas</vt:lpstr>
      <vt:lpstr>Noto Sans Bold</vt:lpstr>
      <vt:lpstr>Noto Serif Devanagari Black</vt:lpstr>
      <vt:lpstr>Noto Serif Devanagari</vt:lpstr>
      <vt:lpstr>Arial</vt:lpstr>
      <vt:lpstr>Book Antiqua</vt:lpstr>
      <vt:lpstr>Noto Serif Devanagari Bold</vt:lpstr>
      <vt:lpstr>Noto Serif Devanagari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 YASHASVI</dc:creator>
  <cp:lastModifiedBy>G Yashasvi</cp:lastModifiedBy>
  <cp:revision>4</cp:revision>
  <dcterms:created xsi:type="dcterms:W3CDTF">2026-10-07T03:22:51Z</dcterms:created>
  <dcterms:modified xsi:type="dcterms:W3CDTF">2026-10-07T04:08:29Z</dcterms:modified>
</cp:coreProperties>
</file>